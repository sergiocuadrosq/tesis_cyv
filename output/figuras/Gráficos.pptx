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FB89-137C-6B9B-EDBF-7529DB02E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37872-F65B-1F6D-9549-2D513A435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F8BB3-879E-6BE9-A1A2-52CB4946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C69A2-0C97-7702-F9BA-C8D731C0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0843F-D5DB-A11E-BC3A-2DEF1693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3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191C-D8DB-15A1-9CD5-4888A71C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A770F-6CCF-2DC8-2D4B-80EAA1EAC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0E55B-554A-2127-4F80-30362C24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BFE39-1ECC-A91C-89B6-7D3CFB8B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4D992-CB78-0365-BCE7-B8A57B7E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7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8252-698A-F9F7-D640-4638C686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7CED9-93DC-1EFB-7EE7-D7B45356D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6F75B-86E3-AACD-5526-B0A3E46E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9800-7BE4-8F71-3585-35AE7AD3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69191-C228-4694-3155-926CD129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8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BD3F-7DB6-0C9C-4EA9-860E46A8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F341F-1045-DABC-53B0-5F9FFEFE8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328AF-3006-FE1B-86D4-DF8A39496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5A592-CB23-DB66-0B1F-6D1A4554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98864-AF2A-864F-FA58-FCA9495B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A38BE-565D-0364-EAA5-9508E3D3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0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64A18-79DC-5E2E-5F12-31A83747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8359C-E886-0556-006A-0AF8E2BFB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4B0DB-1AFC-84EC-AF5A-291CC29E3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C8574-899B-F2C0-7A36-8D947F978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8B57C-4519-9867-851E-FD829E7EC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CDF88-AE86-E4B7-1B27-CB9A03E8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0EE84-D4BB-F6C1-561C-4B5A828A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E3489-DF61-444D-E98C-C2B9A695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5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D221-8010-C602-BECE-6AD60AAD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A702A-814D-0664-1B43-5E781154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405F8-934B-E871-88E5-6882378A6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02A14-B6C2-14DB-583F-B2121FE1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8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C352D-E422-B9D5-2111-EE59939B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649E7-03C9-687B-C8CE-D6044C96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87966-FF10-05FE-196E-52E4B971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3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DD620-EED0-9268-1849-6D13AE98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560E4-D08D-F7B6-4233-CDDB8DA20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4A4C-BCCB-E647-69A0-EF8353E7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3C882-E1E7-98EB-C4B7-240C6012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BCD6C-B3E5-E14A-43BE-9F044CCB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50A0E-8EF2-AB8A-EA87-D3CE10ED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8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C7B4-EE55-BDFB-9C54-31E4E9CF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D509C-4957-0B0A-8C61-FEA40CA742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2ADA9-9CD6-2635-EBB7-80367C872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1199F-FD7A-DF03-7538-CCED6126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5AC07-BEAD-4590-76DA-6735AC17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1B2D0-A804-DBE2-FE0D-4AA314CC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4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53FD-4B3B-1481-DA9C-A917B12C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D03F4-92EE-FC0C-4823-D8CCFE22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FA42D-088A-DF5C-201A-A6E3886E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1E9B-1C23-4DF8-BBB2-74085B9B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7D526-5CE8-4A14-456D-BD38416F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8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F4A6DC-2E44-B4B3-44BB-FAC0A4005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14419-4646-DBA2-4F55-0D8AAAE2F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62CE3-13D9-D723-DCFA-FE1C2303A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0876F-2A37-AA4D-3811-8AE728DA7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90CD7-623F-D11E-E57D-BB627522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4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EA62-31E0-6127-FB0C-8C480CA73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0A6F6-7F63-5E64-4B75-837218FEE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970B2-8CE4-5726-F59A-93FB04C36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39DC9-B240-4913-BEB4-AE5A4D26AA5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69B8-5170-734E-DAB0-72E508B2F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1816B-7EC2-62D5-7DC1-C7361C18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AFEAC-D2B7-4EA3-97BA-53CC8BAC3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6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9961F4-3D0C-85FD-BEE3-6022F555EF44}"/>
              </a:ext>
            </a:extLst>
          </p:cNvPr>
          <p:cNvSpPr/>
          <p:nvPr/>
        </p:nvSpPr>
        <p:spPr>
          <a:xfrm>
            <a:off x="1342318" y="1425191"/>
            <a:ext cx="1573869" cy="615275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Características del individuo y su hogar (X)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75D5BB-F947-C374-8626-26FABB0366C3}"/>
              </a:ext>
            </a:extLst>
          </p:cNvPr>
          <p:cNvSpPr/>
          <p:nvPr/>
        </p:nvSpPr>
        <p:spPr>
          <a:xfrm>
            <a:off x="2916188" y="1425191"/>
            <a:ext cx="1033120" cy="615276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11D37-F2DE-345A-1126-2448102D1BF0}"/>
              </a:ext>
            </a:extLst>
          </p:cNvPr>
          <p:cNvSpPr/>
          <p:nvPr/>
        </p:nvSpPr>
        <p:spPr>
          <a:xfrm>
            <a:off x="1342318" y="1191013"/>
            <a:ext cx="260699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25577C-76C5-7D71-F2AE-B24A3F999EE8}"/>
              </a:ext>
            </a:extLst>
          </p:cNvPr>
          <p:cNvSpPr/>
          <p:nvPr/>
        </p:nvSpPr>
        <p:spPr>
          <a:xfrm>
            <a:off x="4898134" y="1425191"/>
            <a:ext cx="1033120" cy="615275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1D954F-2C8B-DCF1-34B1-4B072AA8824D}"/>
              </a:ext>
            </a:extLst>
          </p:cNvPr>
          <p:cNvSpPr/>
          <p:nvPr/>
        </p:nvSpPr>
        <p:spPr>
          <a:xfrm>
            <a:off x="4898133" y="1191013"/>
            <a:ext cx="103312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17B9A7-0B8A-F32E-26A9-E7A9EC9C8928}"/>
              </a:ext>
            </a:extLst>
          </p:cNvPr>
          <p:cNvSpPr txBox="1"/>
          <p:nvPr/>
        </p:nvSpPr>
        <p:spPr>
          <a:xfrm>
            <a:off x="3183458" y="885604"/>
            <a:ext cx="1237065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Panel bianual 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777479-D291-28DE-551B-E5D7258461EC}"/>
              </a:ext>
            </a:extLst>
          </p:cNvPr>
          <p:cNvSpPr/>
          <p:nvPr/>
        </p:nvSpPr>
        <p:spPr>
          <a:xfrm>
            <a:off x="1342319" y="2653218"/>
            <a:ext cx="1573869" cy="615275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Características del individuo y su hogar (X)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4C34D6-9E74-5362-10AF-F0C870C9B8E9}"/>
              </a:ext>
            </a:extLst>
          </p:cNvPr>
          <p:cNvSpPr/>
          <p:nvPr/>
        </p:nvSpPr>
        <p:spPr>
          <a:xfrm>
            <a:off x="2916189" y="2653218"/>
            <a:ext cx="1033120" cy="615276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9F7500-89E0-B910-A4EE-69D03DA4B6EE}"/>
              </a:ext>
            </a:extLst>
          </p:cNvPr>
          <p:cNvSpPr/>
          <p:nvPr/>
        </p:nvSpPr>
        <p:spPr>
          <a:xfrm>
            <a:off x="1342319" y="2419040"/>
            <a:ext cx="260699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EAE746-AD79-0607-D88F-68FFF013BDE3}"/>
              </a:ext>
            </a:extLst>
          </p:cNvPr>
          <p:cNvSpPr/>
          <p:nvPr/>
        </p:nvSpPr>
        <p:spPr>
          <a:xfrm>
            <a:off x="4898135" y="2653218"/>
            <a:ext cx="1033120" cy="615275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2B418B-8AB5-D73A-9565-848C98E832F5}"/>
              </a:ext>
            </a:extLst>
          </p:cNvPr>
          <p:cNvSpPr/>
          <p:nvPr/>
        </p:nvSpPr>
        <p:spPr>
          <a:xfrm>
            <a:off x="4898134" y="2419040"/>
            <a:ext cx="103312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992A13-D46D-D753-5B16-38A602071805}"/>
              </a:ext>
            </a:extLst>
          </p:cNvPr>
          <p:cNvSpPr txBox="1"/>
          <p:nvPr/>
        </p:nvSpPr>
        <p:spPr>
          <a:xfrm>
            <a:off x="3183459" y="2097286"/>
            <a:ext cx="1237065" cy="276999"/>
          </a:xfrm>
          <a:prstGeom prst="rect">
            <a:avLst/>
          </a:prstGeom>
          <a:noFill/>
          <a:ln w="1270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Panel bianual 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CFC1E7E-8E79-F5BA-98DD-E70FB5B84A2E}"/>
              </a:ext>
            </a:extLst>
          </p:cNvPr>
          <p:cNvSpPr/>
          <p:nvPr/>
        </p:nvSpPr>
        <p:spPr>
          <a:xfrm>
            <a:off x="1342317" y="3864904"/>
            <a:ext cx="1573869" cy="615275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Características del individuo y su hogar (X)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D87E7F-A696-02EF-0D68-EBC451F2010D}"/>
              </a:ext>
            </a:extLst>
          </p:cNvPr>
          <p:cNvSpPr/>
          <p:nvPr/>
        </p:nvSpPr>
        <p:spPr>
          <a:xfrm>
            <a:off x="2916187" y="3864904"/>
            <a:ext cx="1033120" cy="615276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0B21E63-8CDE-BCD9-B1B1-391D5D96DF44}"/>
              </a:ext>
            </a:extLst>
          </p:cNvPr>
          <p:cNvSpPr/>
          <p:nvPr/>
        </p:nvSpPr>
        <p:spPr>
          <a:xfrm>
            <a:off x="1342317" y="3630726"/>
            <a:ext cx="260699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B78241-E4CC-346F-9EFD-BF9716FE4ED8}"/>
              </a:ext>
            </a:extLst>
          </p:cNvPr>
          <p:cNvSpPr/>
          <p:nvPr/>
        </p:nvSpPr>
        <p:spPr>
          <a:xfrm>
            <a:off x="4898133" y="3864904"/>
            <a:ext cx="1033120" cy="615275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2A67C0-1887-3A1A-9ACE-99B0F2BEC93D}"/>
              </a:ext>
            </a:extLst>
          </p:cNvPr>
          <p:cNvSpPr/>
          <p:nvPr/>
        </p:nvSpPr>
        <p:spPr>
          <a:xfrm>
            <a:off x="4898132" y="3630726"/>
            <a:ext cx="103312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9F661C-B5BC-8498-A6EF-B7686F8DA99A}"/>
              </a:ext>
            </a:extLst>
          </p:cNvPr>
          <p:cNvSpPr txBox="1"/>
          <p:nvPr/>
        </p:nvSpPr>
        <p:spPr>
          <a:xfrm>
            <a:off x="3183459" y="3327076"/>
            <a:ext cx="1554328" cy="276999"/>
          </a:xfrm>
          <a:prstGeom prst="rect">
            <a:avLst/>
          </a:prstGeom>
          <a:noFill/>
          <a:ln w="1270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Panel bianual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B02438-08BD-1180-7E04-459C3C0AC8E5}"/>
              </a:ext>
            </a:extLst>
          </p:cNvPr>
          <p:cNvSpPr txBox="1"/>
          <p:nvPr/>
        </p:nvSpPr>
        <p:spPr>
          <a:xfrm>
            <a:off x="2278728" y="4548004"/>
            <a:ext cx="3341157" cy="1292662"/>
          </a:xfrm>
          <a:prstGeom prst="rect">
            <a:avLst/>
          </a:prstGeom>
          <a:noFill/>
          <a:ln w="12700"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(… repetir para más paneles bianuales …)</a:t>
            </a:r>
          </a:p>
          <a:p>
            <a:pPr algn="ctr"/>
            <a:endParaRPr lang="en-US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(…)</a:t>
            </a:r>
          </a:p>
          <a:p>
            <a:pPr algn="ctr"/>
            <a:endParaRPr lang="en-US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(…)</a:t>
            </a:r>
          </a:p>
          <a:p>
            <a:pPr algn="ctr"/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1C8B9E6A-415F-DC88-0A8B-52449B3C4CAF}"/>
              </a:ext>
            </a:extLst>
          </p:cNvPr>
          <p:cNvSpPr/>
          <p:nvPr/>
        </p:nvSpPr>
        <p:spPr>
          <a:xfrm>
            <a:off x="6477000" y="1425190"/>
            <a:ext cx="285750" cy="498860"/>
          </a:xfrm>
          <a:prstGeom prst="rightArrow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0086EB3D-09DE-2D0F-6D95-A9F8C80B60CA}"/>
              </a:ext>
            </a:extLst>
          </p:cNvPr>
          <p:cNvSpPr/>
          <p:nvPr/>
        </p:nvSpPr>
        <p:spPr>
          <a:xfrm>
            <a:off x="6477000" y="2536128"/>
            <a:ext cx="285750" cy="498860"/>
          </a:xfrm>
          <a:prstGeom prst="rightArrow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D94D72C4-7858-2B1B-6A2E-89EA5FB28456}"/>
              </a:ext>
            </a:extLst>
          </p:cNvPr>
          <p:cNvSpPr/>
          <p:nvPr/>
        </p:nvSpPr>
        <p:spPr>
          <a:xfrm>
            <a:off x="6477000" y="3823013"/>
            <a:ext cx="285750" cy="498860"/>
          </a:xfrm>
          <a:prstGeom prst="rightArrow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EE7A3C2-8B50-E80C-B777-DC3A54B3DB17}"/>
              </a:ext>
            </a:extLst>
          </p:cNvPr>
          <p:cNvSpPr/>
          <p:nvPr/>
        </p:nvSpPr>
        <p:spPr>
          <a:xfrm>
            <a:off x="7454214" y="1343414"/>
            <a:ext cx="1573869" cy="4171561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Características del individuo y su hogar (X)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614BC5C-3992-59C1-5BB3-D54715E5E60A}"/>
              </a:ext>
            </a:extLst>
          </p:cNvPr>
          <p:cNvSpPr/>
          <p:nvPr/>
        </p:nvSpPr>
        <p:spPr>
          <a:xfrm>
            <a:off x="9028084" y="1343414"/>
            <a:ext cx="1033120" cy="4171560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6591291-DC74-2390-631C-14830394E915}"/>
              </a:ext>
            </a:extLst>
          </p:cNvPr>
          <p:cNvSpPr/>
          <p:nvPr/>
        </p:nvSpPr>
        <p:spPr>
          <a:xfrm>
            <a:off x="7454214" y="1109236"/>
            <a:ext cx="260699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6383D46-582A-6EF5-55A4-0B4C8A854097}"/>
              </a:ext>
            </a:extLst>
          </p:cNvPr>
          <p:cNvSpPr/>
          <p:nvPr/>
        </p:nvSpPr>
        <p:spPr>
          <a:xfrm>
            <a:off x="10061205" y="1343414"/>
            <a:ext cx="1033120" cy="4171560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Situación de formalidad (Y</a:t>
            </a:r>
            <a:r>
              <a:rPr lang="en-US" sz="1200" baseline="-25000" noProof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17FB1F0-8EEA-430A-E556-8E6444DCBB35}"/>
              </a:ext>
            </a:extLst>
          </p:cNvPr>
          <p:cNvSpPr/>
          <p:nvPr/>
        </p:nvSpPr>
        <p:spPr>
          <a:xfrm>
            <a:off x="10061204" y="1109236"/>
            <a:ext cx="1033120" cy="234177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Año t =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F19431-CE15-11B1-C528-6E6F29633880}"/>
              </a:ext>
            </a:extLst>
          </p:cNvPr>
          <p:cNvSpPr txBox="1"/>
          <p:nvPr/>
        </p:nvSpPr>
        <p:spPr>
          <a:xfrm>
            <a:off x="7696200" y="5666987"/>
            <a:ext cx="2977295" cy="83099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noProof="1">
                <a:latin typeface="Arial" panose="020B0604020202020204" pitchFamily="34" charset="0"/>
                <a:cs typeface="Arial" panose="020B0604020202020204" pitchFamily="34" charset="0"/>
              </a:rPr>
              <a:t>Base de datos final para el modelo. </a:t>
            </a:r>
          </a:p>
          <a:p>
            <a:pPr algn="ctr"/>
            <a:r>
              <a:rPr lang="es-ES" sz="1200" noProof="1">
                <a:latin typeface="Arial" panose="020B0604020202020204" pitchFamily="34" charset="0"/>
                <a:cs typeface="Arial" panose="020B0604020202020204" pitchFamily="34" charset="0"/>
              </a:rPr>
              <a:t>Observaciones: individuos formales en t, con resultado en t+1 (mantiene formalidad / cae en informalidad)</a:t>
            </a:r>
            <a:endParaRPr lang="en-US" sz="12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D27978-C091-BB93-258E-A9A4552C69B7}"/>
              </a:ext>
            </a:extLst>
          </p:cNvPr>
          <p:cNvSpPr txBox="1"/>
          <p:nvPr/>
        </p:nvSpPr>
        <p:spPr>
          <a:xfrm>
            <a:off x="8659857" y="711002"/>
            <a:ext cx="165571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Panel apilado bianual</a:t>
            </a:r>
          </a:p>
        </p:txBody>
      </p:sp>
    </p:spTree>
    <p:extLst>
      <p:ext uri="{BB962C8B-B14F-4D97-AF65-F5344CB8AC3E}">
        <p14:creationId xmlns:p14="http://schemas.microsoft.com/office/powerpoint/2010/main" val="328330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166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Cuadros</dc:creator>
  <cp:lastModifiedBy>Sergio Cuadros</cp:lastModifiedBy>
  <cp:revision>1</cp:revision>
  <dcterms:created xsi:type="dcterms:W3CDTF">2025-11-19T01:17:55Z</dcterms:created>
  <dcterms:modified xsi:type="dcterms:W3CDTF">2025-11-19T01:41:39Z</dcterms:modified>
</cp:coreProperties>
</file>